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2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51"/>
    <p:restoredTop sz="96296"/>
  </p:normalViewPr>
  <p:slideViewPr>
    <p:cSldViewPr snapToGrid="0">
      <p:cViewPr varScale="1">
        <p:scale>
          <a:sx n="34" d="100"/>
          <a:sy n="34" d="100"/>
        </p:scale>
        <p:origin x="102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32918400" cy="21945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3531249" y="4080080"/>
            <a:ext cx="25855909" cy="137854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3917290" y="4433011"/>
            <a:ext cx="25083821" cy="130795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13661136" y="4056736"/>
            <a:ext cx="5596128" cy="20482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13990320" y="4056739"/>
            <a:ext cx="4937760" cy="1755648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6612" y="6692042"/>
            <a:ext cx="24485184" cy="829056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19840" b="0" kern="1200" cap="all" spc="-3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7670" y="14982598"/>
            <a:ext cx="24491290" cy="1609344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4480" spc="256" baseline="0">
                <a:solidFill>
                  <a:schemeClr val="tx1"/>
                </a:solidFill>
              </a:defRPr>
            </a:lvl1pPr>
            <a:lvl2pPr marL="1463040" indent="0" algn="ctr">
              <a:buNone/>
              <a:defRPr sz="4480"/>
            </a:lvl2pPr>
            <a:lvl3pPr marL="2926080" indent="0" algn="ctr">
              <a:buNone/>
              <a:defRPr sz="4480"/>
            </a:lvl3pPr>
            <a:lvl4pPr marL="4389120" indent="0" algn="ctr">
              <a:buNone/>
              <a:defRPr sz="4480"/>
            </a:lvl4pPr>
            <a:lvl5pPr marL="5852160" indent="0" algn="ctr">
              <a:buNone/>
              <a:defRPr sz="4480"/>
            </a:lvl5pPr>
            <a:lvl6pPr marL="7315200" indent="0" algn="ctr">
              <a:buNone/>
              <a:defRPr sz="4480"/>
            </a:lvl6pPr>
            <a:lvl7pPr marL="8778240" indent="0" algn="ctr">
              <a:buNone/>
              <a:defRPr sz="4480"/>
            </a:lvl7pPr>
            <a:lvl8pPr marL="10241280" indent="0" algn="ctr">
              <a:buNone/>
              <a:defRPr sz="4480"/>
            </a:lvl8pPr>
            <a:lvl9pPr marL="11704320" indent="0" algn="ctr">
              <a:buNone/>
              <a:defRPr sz="4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14154912" y="4247002"/>
            <a:ext cx="4608576" cy="1463040"/>
          </a:xfrm>
        </p:spPr>
        <p:txBody>
          <a:bodyPr/>
          <a:lstStyle>
            <a:lvl1pPr algn="ctr">
              <a:defRPr sz="352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3977771" y="16675392"/>
            <a:ext cx="15944850" cy="731520"/>
          </a:xfrm>
        </p:spPr>
        <p:txBody>
          <a:bodyPr/>
          <a:lstStyle>
            <a:lvl1pPr algn="l"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23238686" y="16678656"/>
            <a:ext cx="5702080" cy="7315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4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32918400" cy="21945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3531249" y="4080080"/>
            <a:ext cx="25855909" cy="137854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3917290" y="4433011"/>
            <a:ext cx="25083821" cy="130795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13661136" y="4056736"/>
            <a:ext cx="5596128" cy="20482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13990320" y="4056739"/>
            <a:ext cx="4937760" cy="1755648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781" y="6701789"/>
            <a:ext cx="24491290" cy="8280806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19840" kern="1200" cap="all" spc="-3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1785" y="14982598"/>
            <a:ext cx="24491290" cy="1609344"/>
          </a:xfrm>
        </p:spPr>
        <p:txBody>
          <a:bodyPr anchor="t">
            <a:normAutofit/>
          </a:bodyPr>
          <a:lstStyle>
            <a:lvl1pPr marL="0" indent="0" algn="ctr">
              <a:buNone/>
              <a:defRPr sz="4480">
                <a:solidFill>
                  <a:schemeClr val="tx1"/>
                </a:solidFill>
                <a:effectLst/>
              </a:defRPr>
            </a:lvl1pPr>
            <a:lvl2pPr marL="146304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4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54912" y="4242816"/>
            <a:ext cx="4608576" cy="1463040"/>
          </a:xfrm>
        </p:spPr>
        <p:txBody>
          <a:bodyPr/>
          <a:lstStyle>
            <a:lvl1pPr algn="ctr">
              <a:defRPr lang="en-US" sz="352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76844" y="16675392"/>
            <a:ext cx="15948965" cy="73152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232161" y="16675392"/>
            <a:ext cx="5703113" cy="731520"/>
          </a:xfrm>
        </p:spPr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33472" y="6729984"/>
            <a:ext cx="13167360" cy="12582144"/>
          </a:xfrm>
        </p:spPr>
        <p:txBody>
          <a:bodyPr/>
          <a:lstStyle>
            <a:lvl1pPr>
              <a:defRPr sz="5760"/>
            </a:lvl1pPr>
            <a:lvl2pPr>
              <a:defRPr sz="5120"/>
            </a:lvl2pPr>
            <a:lvl3pPr>
              <a:defRPr sz="4480"/>
            </a:lvl3pPr>
            <a:lvl4pPr>
              <a:defRPr sz="4480"/>
            </a:lvl4pPr>
            <a:lvl5pPr>
              <a:defRPr sz="4480"/>
            </a:lvl5pPr>
            <a:lvl6pPr>
              <a:defRPr sz="4480"/>
            </a:lvl6pPr>
            <a:lvl7pPr>
              <a:defRPr sz="4480"/>
            </a:lvl7pPr>
            <a:lvl8pPr>
              <a:defRPr sz="4480"/>
            </a:lvl8pPr>
            <a:lvl9pPr>
              <a:defRPr sz="4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17568" y="6729984"/>
            <a:ext cx="13167360" cy="12582144"/>
          </a:xfrm>
        </p:spPr>
        <p:txBody>
          <a:bodyPr/>
          <a:lstStyle>
            <a:lvl1pPr>
              <a:defRPr sz="5760"/>
            </a:lvl1pPr>
            <a:lvl2pPr>
              <a:defRPr sz="5120"/>
            </a:lvl2pPr>
            <a:lvl3pPr>
              <a:defRPr sz="4480"/>
            </a:lvl3pPr>
            <a:lvl4pPr>
              <a:defRPr sz="4480"/>
            </a:lvl4pPr>
            <a:lvl5pPr>
              <a:defRPr sz="4480"/>
            </a:lvl5pPr>
            <a:lvl6pPr>
              <a:defRPr sz="4480"/>
            </a:lvl6pPr>
            <a:lvl7pPr>
              <a:defRPr sz="4480"/>
            </a:lvl7pPr>
            <a:lvl8pPr>
              <a:defRPr sz="4480"/>
            </a:lvl8pPr>
            <a:lvl9pPr>
              <a:defRPr sz="4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2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3472" y="6637869"/>
            <a:ext cx="13167360" cy="204825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6080" b="0">
                <a:solidFill>
                  <a:schemeClr val="tx2"/>
                </a:solidFill>
                <a:latin typeface="+mn-lt"/>
              </a:defRPr>
            </a:lvl1pPr>
            <a:lvl2pPr marL="1463040" indent="0">
              <a:buNone/>
              <a:defRPr sz="608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33472" y="8818874"/>
            <a:ext cx="13167360" cy="10241280"/>
          </a:xfrm>
        </p:spPr>
        <p:txBody>
          <a:bodyPr/>
          <a:lstStyle>
            <a:lvl1pPr>
              <a:defRPr sz="5760"/>
            </a:lvl1pPr>
            <a:lvl2pPr>
              <a:defRPr sz="5120"/>
            </a:lvl2pPr>
            <a:lvl3pPr>
              <a:defRPr sz="4480"/>
            </a:lvl3pPr>
            <a:lvl4pPr>
              <a:defRPr sz="4480"/>
            </a:lvl4pPr>
            <a:lvl5pPr>
              <a:defRPr sz="4480"/>
            </a:lvl5pPr>
            <a:lvl6pPr>
              <a:defRPr sz="4480"/>
            </a:lvl6pPr>
            <a:lvl7pPr>
              <a:defRPr sz="4480"/>
            </a:lvl7pPr>
            <a:lvl8pPr>
              <a:defRPr sz="4480"/>
            </a:lvl8pPr>
            <a:lvl9pPr>
              <a:defRPr sz="4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117568" y="6637869"/>
            <a:ext cx="13167360" cy="204825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6080" b="0">
                <a:solidFill>
                  <a:schemeClr val="tx2"/>
                </a:solidFill>
              </a:defRPr>
            </a:lvl1pPr>
            <a:lvl2pPr marL="1463040" indent="0">
              <a:buNone/>
              <a:defRPr sz="608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117568" y="8821059"/>
            <a:ext cx="13167360" cy="10241280"/>
          </a:xfrm>
        </p:spPr>
        <p:txBody>
          <a:bodyPr/>
          <a:lstStyle>
            <a:lvl1pPr>
              <a:defRPr sz="5760"/>
            </a:lvl1pPr>
            <a:lvl2pPr>
              <a:defRPr sz="5120"/>
            </a:lvl2pPr>
            <a:lvl3pPr>
              <a:defRPr sz="4480"/>
            </a:lvl3pPr>
            <a:lvl4pPr>
              <a:defRPr sz="4480"/>
            </a:lvl4pPr>
            <a:lvl5pPr>
              <a:defRPr sz="4480"/>
            </a:lvl5pPr>
            <a:lvl6pPr>
              <a:defRPr sz="4480"/>
            </a:lvl6pPr>
            <a:lvl7pPr>
              <a:defRPr sz="4480"/>
            </a:lvl7pPr>
            <a:lvl8pPr>
              <a:defRPr sz="4480"/>
            </a:lvl8pPr>
            <a:lvl9pPr>
              <a:defRPr sz="4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0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0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662929" y="555955"/>
            <a:ext cx="23034650" cy="208336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24355044" y="555955"/>
            <a:ext cx="7900416" cy="20833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00282" y="1943654"/>
            <a:ext cx="6563106" cy="5266944"/>
          </a:xfrm>
        </p:spPr>
        <p:txBody>
          <a:bodyPr anchor="b">
            <a:normAutofit/>
          </a:bodyPr>
          <a:lstStyle>
            <a:lvl1pPr algn="l" defTabSz="29260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68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8313" y="2902858"/>
            <a:ext cx="19543882" cy="16139885"/>
          </a:xfrm>
        </p:spPr>
        <p:txBody>
          <a:bodyPr/>
          <a:lstStyle>
            <a:lvl1pPr>
              <a:defRPr sz="5760"/>
            </a:lvl1pPr>
            <a:lvl2pPr>
              <a:defRPr sz="5120"/>
            </a:lvl2pPr>
            <a:lvl3pPr>
              <a:defRPr sz="4480"/>
            </a:lvl3pPr>
            <a:lvl4pPr>
              <a:defRPr sz="4480"/>
            </a:lvl4pPr>
            <a:lvl5pPr>
              <a:defRPr sz="4480"/>
            </a:lvl5pPr>
            <a:lvl6pPr>
              <a:defRPr sz="4480"/>
            </a:lvl6pPr>
            <a:lvl7pPr>
              <a:defRPr sz="4480"/>
            </a:lvl7pPr>
            <a:lvl8pPr>
              <a:defRPr sz="4480"/>
            </a:lvl8pPr>
            <a:lvl9pPr>
              <a:defRPr sz="4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00282" y="7315200"/>
            <a:ext cx="6563106" cy="1121664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2560"/>
              </a:spcBef>
              <a:buNone/>
              <a:defRPr sz="4160">
                <a:solidFill>
                  <a:srgbClr val="FFFFFF"/>
                </a:solidFill>
              </a:defRPr>
            </a:lvl1pPr>
            <a:lvl2pPr marL="1463040" indent="0">
              <a:buNone/>
              <a:defRPr sz="3840"/>
            </a:lvl2pPr>
            <a:lvl3pPr marL="2926080" indent="0">
              <a:buNone/>
              <a:defRPr sz="3200"/>
            </a:lvl3pPr>
            <a:lvl4pPr marL="4389120" indent="0">
              <a:buNone/>
              <a:defRPr sz="2880"/>
            </a:lvl4pPr>
            <a:lvl5pPr marL="5852160" indent="0">
              <a:buNone/>
              <a:defRPr sz="2880"/>
            </a:lvl5pPr>
            <a:lvl6pPr marL="7315200" indent="0">
              <a:buNone/>
              <a:defRPr sz="2880"/>
            </a:lvl6pPr>
            <a:lvl7pPr marL="8778240" indent="0">
              <a:buNone/>
              <a:defRPr sz="2880"/>
            </a:lvl7pPr>
            <a:lvl8pPr marL="10241280" indent="0">
              <a:buNone/>
              <a:defRPr sz="2880"/>
            </a:lvl8pPr>
            <a:lvl9pPr marL="11704320" indent="0">
              <a:buNone/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28062929" y="20192275"/>
            <a:ext cx="3950208" cy="8778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4725376" y="877824"/>
            <a:ext cx="7159752" cy="2018995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2009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355044" y="555955"/>
            <a:ext cx="7900416" cy="20833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00280" y="1931213"/>
            <a:ext cx="6567221" cy="5266944"/>
          </a:xfrm>
        </p:spPr>
        <p:txBody>
          <a:bodyPr anchor="b">
            <a:noAutofit/>
          </a:bodyPr>
          <a:lstStyle>
            <a:lvl1pPr algn="l">
              <a:defRPr sz="768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7217" y="555955"/>
            <a:ext cx="23034650" cy="20833690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00280" y="7315200"/>
            <a:ext cx="6567221" cy="1120688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2560"/>
              </a:spcBef>
              <a:buNone/>
              <a:defRPr sz="4160">
                <a:solidFill>
                  <a:srgbClr val="FFFFFF"/>
                </a:solidFill>
              </a:defRPr>
            </a:lvl1pPr>
            <a:lvl2pPr marL="1463040" indent="0">
              <a:buNone/>
              <a:defRPr sz="3840"/>
            </a:lvl2pPr>
            <a:lvl3pPr marL="2926080" indent="0">
              <a:buNone/>
              <a:defRPr sz="3200"/>
            </a:lvl3pPr>
            <a:lvl4pPr marL="4389120" indent="0">
              <a:buNone/>
              <a:defRPr sz="2880"/>
            </a:lvl4pPr>
            <a:lvl5pPr marL="5852160" indent="0">
              <a:buNone/>
              <a:defRPr sz="2880"/>
            </a:lvl5pPr>
            <a:lvl6pPr marL="7315200" indent="0">
              <a:buNone/>
              <a:defRPr sz="2880"/>
            </a:lvl6pPr>
            <a:lvl7pPr marL="8778240" indent="0">
              <a:buNone/>
              <a:defRPr sz="2880"/>
            </a:lvl7pPr>
            <a:lvl8pPr marL="10241280" indent="0">
              <a:buNone/>
              <a:defRPr sz="2880"/>
            </a:lvl8pPr>
            <a:lvl9pPr marL="11704320" indent="0">
              <a:buNone/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2926080" rtl="0" eaLnBrk="1" latinLnBrk="0" hangingPunct="1">
              <a:defRPr lang="en-US" sz="288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8071166" y="20189952"/>
            <a:ext cx="3950208" cy="8778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4725376" y="877824"/>
            <a:ext cx="7159752" cy="2018995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8535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7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77320" y="2438400"/>
            <a:ext cx="6377940" cy="168249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0" y="2438400"/>
            <a:ext cx="21808440" cy="168249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3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33679" y="555955"/>
            <a:ext cx="31651042" cy="20833690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33472" y="2056301"/>
            <a:ext cx="27651456" cy="4389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3472" y="6729984"/>
            <a:ext cx="27651456" cy="12582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165" y="20189952"/>
            <a:ext cx="7406640" cy="8778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673AE5-E874-E74C-A980-C005D91CB5D3}" type="datetimeFigureOut">
              <a:rPr lang="en-US" smtClean="0"/>
              <a:t>3/16/23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48826" y="20189952"/>
            <a:ext cx="14220749" cy="8778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164175" y="20189952"/>
            <a:ext cx="3950208" cy="8778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ECC7288-3BCA-C042-8233-A09F2A5C2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5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9" r:id="rId1"/>
    <p:sldLayoutId id="2147484330" r:id="rId2"/>
    <p:sldLayoutId id="2147484331" r:id="rId3"/>
    <p:sldLayoutId id="2147484332" r:id="rId4"/>
    <p:sldLayoutId id="2147484333" r:id="rId5"/>
    <p:sldLayoutId id="2147484334" r:id="rId6"/>
    <p:sldLayoutId id="2147484335" r:id="rId7"/>
    <p:sldLayoutId id="2147484336" r:id="rId8"/>
    <p:sldLayoutId id="2147484337" r:id="rId9"/>
    <p:sldLayoutId id="2147484338" r:id="rId10"/>
    <p:sldLayoutId id="2147484339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lang="en-US" sz="12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585216" indent="-585216" algn="l" defTabSz="2926080" rtl="0" eaLnBrk="1" latinLnBrk="0" hangingPunct="1">
        <a:lnSpc>
          <a:spcPct val="100000"/>
        </a:lnSpc>
        <a:spcBef>
          <a:spcPts val="288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indent="-585216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340864" indent="-585216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4480" kern="1200">
          <a:solidFill>
            <a:schemeClr val="tx1"/>
          </a:solidFill>
          <a:latin typeface="+mn-lt"/>
          <a:ea typeface="+mn-ea"/>
          <a:cs typeface="+mn-cs"/>
        </a:defRPr>
      </a:lvl3pPr>
      <a:lvl4pPr marL="3218688" indent="-585216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4480" kern="1200">
          <a:solidFill>
            <a:schemeClr val="tx1"/>
          </a:solidFill>
          <a:latin typeface="+mn-lt"/>
          <a:ea typeface="+mn-ea"/>
          <a:cs typeface="+mn-cs"/>
        </a:defRPr>
      </a:lvl4pPr>
      <a:lvl5pPr marL="4096512" indent="-585216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4480" kern="1200">
          <a:solidFill>
            <a:schemeClr val="tx1"/>
          </a:solidFill>
          <a:latin typeface="+mn-lt"/>
          <a:ea typeface="+mn-ea"/>
          <a:cs typeface="+mn-cs"/>
        </a:defRPr>
      </a:lvl5pPr>
      <a:lvl6pPr marL="5120000" indent="-731520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4480" kern="1200">
          <a:solidFill>
            <a:schemeClr val="tx1"/>
          </a:solidFill>
          <a:latin typeface="+mn-lt"/>
          <a:ea typeface="+mn-ea"/>
          <a:cs typeface="+mn-cs"/>
        </a:defRPr>
      </a:lvl6pPr>
      <a:lvl7pPr marL="6080000" indent="-731520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4480" kern="1200">
          <a:solidFill>
            <a:schemeClr val="tx1"/>
          </a:solidFill>
          <a:latin typeface="+mn-lt"/>
          <a:ea typeface="+mn-ea"/>
          <a:cs typeface="+mn-cs"/>
        </a:defRPr>
      </a:lvl7pPr>
      <a:lvl8pPr marL="7040000" indent="-731520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4480" kern="1200">
          <a:solidFill>
            <a:schemeClr val="tx1"/>
          </a:solidFill>
          <a:latin typeface="+mn-lt"/>
          <a:ea typeface="+mn-ea"/>
          <a:cs typeface="+mn-cs"/>
        </a:defRPr>
      </a:lvl8pPr>
      <a:lvl9pPr marL="8000000" indent="-731520" algn="l" defTabSz="2926080" rtl="0" eaLnBrk="1" latinLnBrk="0" hangingPunct="1">
        <a:lnSpc>
          <a:spcPct val="100000"/>
        </a:lnSpc>
        <a:spcBef>
          <a:spcPts val="1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4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B3715A9-679D-0FEF-1CA9-7A4A0D36F85E}"/>
              </a:ext>
            </a:extLst>
          </p:cNvPr>
          <p:cNvSpPr/>
          <p:nvPr/>
        </p:nvSpPr>
        <p:spPr>
          <a:xfrm>
            <a:off x="21935801" y="11936186"/>
            <a:ext cx="10123717" cy="909501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206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206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206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206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206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dirty="0">
              <a:solidFill>
                <a:srgbClr val="002060"/>
              </a:solidFill>
              <a:effectLst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39E4165-CD56-BD11-C652-B4BCDC8FB8B9}"/>
              </a:ext>
            </a:extLst>
          </p:cNvPr>
          <p:cNvSpPr/>
          <p:nvPr/>
        </p:nvSpPr>
        <p:spPr>
          <a:xfrm>
            <a:off x="858878" y="2473777"/>
            <a:ext cx="10123717" cy="90950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206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2060"/>
              </a:solidFill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206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2060"/>
              </a:solidFill>
              <a:effectLst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2060"/>
                </a:solidFill>
                <a:effectLst/>
              </a:rPr>
              <a:t>Defining Gentrification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Gentrification: displacement of low SES groups by influx of high SES groups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Research wants to find causes and effects of gentrification to help low SES people facing this issue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Gentrification is abstract: how do we even define </a:t>
            </a:r>
            <a:r>
              <a:rPr lang="en-US" sz="2400" dirty="0">
                <a:solidFill>
                  <a:srgbClr val="002060"/>
                </a:solidFill>
              </a:rPr>
              <a:t>it</a:t>
            </a: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?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1" u="none" strike="noStrike" dirty="0">
                <a:solidFill>
                  <a:srgbClr val="002060"/>
                </a:solidFill>
                <a:effectLst/>
              </a:rPr>
              <a:t>Important problem</a:t>
            </a: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: drastically affects which areas are considered as gentrified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2060"/>
                </a:solidFill>
                <a:effectLst/>
              </a:rPr>
              <a:t>Gentrification in Quantitative Research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Strengths of quantitative research: trends found are more generalizable, look at less studied/smaller areas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Here, d</a:t>
            </a: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efined based on relative changes in SES and housing affordability (Owens 2012, Reades et al. 2019)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2060"/>
                </a:solidFill>
                <a:effectLst/>
              </a:rPr>
              <a:t>Machine Learning and Gentrification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400" b="0" i="1" u="none" strike="noStrike" dirty="0">
                <a:solidFill>
                  <a:srgbClr val="002060"/>
                </a:solidFill>
                <a:effectLst/>
              </a:rPr>
              <a:t>STRENGTHS</a:t>
            </a: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: considers many vars at once despite collinearity and pulls out the most important features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1" u="none" strike="noStrike" dirty="0">
                <a:solidFill>
                  <a:srgbClr val="002060"/>
                </a:solidFill>
                <a:effectLst/>
              </a:rPr>
              <a:t>PRESENT STUDY</a:t>
            </a: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: random forest (supervised binary classification) ML model</a:t>
            </a:r>
          </a:p>
          <a:p>
            <a:pPr marL="800100" lvl="1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1" u="none" strike="noStrike" dirty="0">
                <a:solidFill>
                  <a:srgbClr val="002060"/>
                </a:solidFill>
                <a:effectLst/>
              </a:rPr>
              <a:t>BUILDS ON</a:t>
            </a:r>
            <a:r>
              <a:rPr lang="en-US" sz="2400" b="0" i="0" u="none" strike="noStrike" dirty="0">
                <a:solidFill>
                  <a:srgbClr val="002060"/>
                </a:solidFill>
                <a:effectLst/>
              </a:rPr>
              <a:t>: Study across the whole U.S.; New/more thorough features considered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8DFAF9-CA43-BCA6-70A7-3D13DE6D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0" y="659254"/>
            <a:ext cx="28891774" cy="1796149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>
                <a:solidFill>
                  <a:schemeClr val="tx2"/>
                </a:solidFill>
                <a:ea typeface="Ayuthaya" pitchFamily="2" charset="-34"/>
                <a:cs typeface="Ayuthaya" pitchFamily="2" charset="-34"/>
              </a:rPr>
              <a:t>Predicting U.S. Urban Gentrification with Machine Learning</a:t>
            </a:r>
            <a:br>
              <a:rPr lang="en-US" sz="8000" b="1" dirty="0">
                <a:solidFill>
                  <a:schemeClr val="tx2"/>
                </a:solidFill>
                <a:ea typeface="Ayuthaya" pitchFamily="2" charset="-34"/>
                <a:cs typeface="Ayuthaya" pitchFamily="2" charset="-34"/>
              </a:rPr>
            </a:br>
            <a:r>
              <a:rPr lang="en-US" sz="3000" b="1" dirty="0">
                <a:solidFill>
                  <a:schemeClr val="tx2"/>
                </a:solidFill>
                <a:ea typeface="Ayuthaya" pitchFamily="2" charset="-34"/>
                <a:cs typeface="Ayuthaya" pitchFamily="2" charset="-34"/>
              </a:rPr>
              <a:t>QSS Major One Quarter Project (23W), Claire Meli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BE5FB0D-54B2-62A0-D9BF-350DFD475DDD}"/>
              </a:ext>
            </a:extLst>
          </p:cNvPr>
          <p:cNvSpPr/>
          <p:nvPr/>
        </p:nvSpPr>
        <p:spPr>
          <a:xfrm>
            <a:off x="21935802" y="2473778"/>
            <a:ext cx="10123717" cy="90950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0974061-63B8-0A09-ED52-549B871E680F}"/>
              </a:ext>
            </a:extLst>
          </p:cNvPr>
          <p:cNvSpPr/>
          <p:nvPr/>
        </p:nvSpPr>
        <p:spPr>
          <a:xfrm>
            <a:off x="11397340" y="2473777"/>
            <a:ext cx="10123717" cy="90950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6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lvl="1"/>
            <a:endParaRPr lang="en-US" sz="2600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74E8DE7-B546-F3DC-5B5F-A72738FD9DB5}"/>
              </a:ext>
            </a:extLst>
          </p:cNvPr>
          <p:cNvSpPr/>
          <p:nvPr/>
        </p:nvSpPr>
        <p:spPr>
          <a:xfrm>
            <a:off x="858877" y="11936186"/>
            <a:ext cx="10123717" cy="90950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sz="2600" b="1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27AF57B-FE61-C3F7-BBE1-CDDCF1A98C58}"/>
              </a:ext>
            </a:extLst>
          </p:cNvPr>
          <p:cNvSpPr/>
          <p:nvPr/>
        </p:nvSpPr>
        <p:spPr>
          <a:xfrm>
            <a:off x="11397339" y="11936186"/>
            <a:ext cx="10123717" cy="90950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6" name="Round Same Side Corner Rectangle 45">
            <a:extLst>
              <a:ext uri="{FF2B5EF4-FFF2-40B4-BE49-F238E27FC236}">
                <a16:creationId xmlns:a16="http://schemas.microsoft.com/office/drawing/2014/main" id="{1DFAEF02-03E1-F94D-9593-5C940BD30DB8}"/>
              </a:ext>
            </a:extLst>
          </p:cNvPr>
          <p:cNvSpPr/>
          <p:nvPr/>
        </p:nvSpPr>
        <p:spPr>
          <a:xfrm>
            <a:off x="21935800" y="2455404"/>
            <a:ext cx="10123717" cy="1476358"/>
          </a:xfrm>
          <a:prstGeom prst="round2Same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ound Same Side Corner Rectangle 47">
            <a:extLst>
              <a:ext uri="{FF2B5EF4-FFF2-40B4-BE49-F238E27FC236}">
                <a16:creationId xmlns:a16="http://schemas.microsoft.com/office/drawing/2014/main" id="{A0C1BCF7-572A-A4EF-1142-776E76493043}"/>
              </a:ext>
            </a:extLst>
          </p:cNvPr>
          <p:cNvSpPr/>
          <p:nvPr/>
        </p:nvSpPr>
        <p:spPr>
          <a:xfrm>
            <a:off x="858876" y="2455404"/>
            <a:ext cx="10123717" cy="1476358"/>
          </a:xfrm>
          <a:prstGeom prst="round2Same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7" name="Round Same Side Corner Rectangle 46">
            <a:extLst>
              <a:ext uri="{FF2B5EF4-FFF2-40B4-BE49-F238E27FC236}">
                <a16:creationId xmlns:a16="http://schemas.microsoft.com/office/drawing/2014/main" id="{EB48C21F-667C-CE34-792D-3A7CD1275388}"/>
              </a:ext>
            </a:extLst>
          </p:cNvPr>
          <p:cNvSpPr/>
          <p:nvPr/>
        </p:nvSpPr>
        <p:spPr>
          <a:xfrm>
            <a:off x="11397337" y="2455404"/>
            <a:ext cx="10123717" cy="1476358"/>
          </a:xfrm>
          <a:prstGeom prst="round2Same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451C8E-4858-A315-B5C0-D23EE1EF6073}"/>
              </a:ext>
            </a:extLst>
          </p:cNvPr>
          <p:cNvSpPr txBox="1"/>
          <p:nvPr/>
        </p:nvSpPr>
        <p:spPr>
          <a:xfrm>
            <a:off x="1250760" y="2778084"/>
            <a:ext cx="933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Introduction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B6F272-9666-77B7-7F50-AE8A8F7BF39B}"/>
              </a:ext>
            </a:extLst>
          </p:cNvPr>
          <p:cNvSpPr txBox="1"/>
          <p:nvPr/>
        </p:nvSpPr>
        <p:spPr>
          <a:xfrm>
            <a:off x="11789222" y="2773324"/>
            <a:ext cx="933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Methods</a:t>
            </a:r>
          </a:p>
        </p:txBody>
      </p:sp>
      <p:sp>
        <p:nvSpPr>
          <p:cNvPr id="56" name="Round Same Side Corner Rectangle 55">
            <a:extLst>
              <a:ext uri="{FF2B5EF4-FFF2-40B4-BE49-F238E27FC236}">
                <a16:creationId xmlns:a16="http://schemas.microsoft.com/office/drawing/2014/main" id="{1F7B47D2-4E75-7B50-3601-07A9F163275F}"/>
              </a:ext>
            </a:extLst>
          </p:cNvPr>
          <p:cNvSpPr/>
          <p:nvPr/>
        </p:nvSpPr>
        <p:spPr>
          <a:xfrm>
            <a:off x="858875" y="11936186"/>
            <a:ext cx="10123718" cy="1476358"/>
          </a:xfrm>
          <a:prstGeom prst="round2Same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9A1F4B-490F-FC8E-3881-3397141323AD}"/>
              </a:ext>
            </a:extLst>
          </p:cNvPr>
          <p:cNvSpPr txBox="1"/>
          <p:nvPr/>
        </p:nvSpPr>
        <p:spPr>
          <a:xfrm>
            <a:off x="22327686" y="2778084"/>
            <a:ext cx="933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Results: Accuracy, Predictions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58DCD1-04B0-DB6A-2131-B8AD89A44B0C}"/>
              </a:ext>
            </a:extLst>
          </p:cNvPr>
          <p:cNvSpPr txBox="1"/>
          <p:nvPr/>
        </p:nvSpPr>
        <p:spPr>
          <a:xfrm>
            <a:off x="1250760" y="12254947"/>
            <a:ext cx="933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Data</a:t>
            </a:r>
          </a:p>
        </p:txBody>
      </p:sp>
      <p:sp>
        <p:nvSpPr>
          <p:cNvPr id="58" name="Round Same Side Corner Rectangle 57">
            <a:extLst>
              <a:ext uri="{FF2B5EF4-FFF2-40B4-BE49-F238E27FC236}">
                <a16:creationId xmlns:a16="http://schemas.microsoft.com/office/drawing/2014/main" id="{37367941-49A7-F88E-5656-8BE072B2AB81}"/>
              </a:ext>
            </a:extLst>
          </p:cNvPr>
          <p:cNvSpPr/>
          <p:nvPr/>
        </p:nvSpPr>
        <p:spPr>
          <a:xfrm>
            <a:off x="21935800" y="11936185"/>
            <a:ext cx="10123716" cy="1476357"/>
          </a:xfrm>
          <a:prstGeom prst="round2Same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ound Same Side Corner Rectangle 56">
            <a:extLst>
              <a:ext uri="{FF2B5EF4-FFF2-40B4-BE49-F238E27FC236}">
                <a16:creationId xmlns:a16="http://schemas.microsoft.com/office/drawing/2014/main" id="{33FD957C-C47E-6564-8303-0692B1AAD8EE}"/>
              </a:ext>
            </a:extLst>
          </p:cNvPr>
          <p:cNvSpPr/>
          <p:nvPr/>
        </p:nvSpPr>
        <p:spPr>
          <a:xfrm>
            <a:off x="11397337" y="11936186"/>
            <a:ext cx="10123717" cy="1476358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5E64E7-45C4-B395-996A-8AAFED00FEDC}"/>
              </a:ext>
            </a:extLst>
          </p:cNvPr>
          <p:cNvSpPr txBox="1"/>
          <p:nvPr/>
        </p:nvSpPr>
        <p:spPr>
          <a:xfrm>
            <a:off x="11789221" y="12254947"/>
            <a:ext cx="933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Results: Feature Importance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2FFE8E-D77E-758C-4027-25C79F1727FF}"/>
              </a:ext>
            </a:extLst>
          </p:cNvPr>
          <p:cNvSpPr txBox="1"/>
          <p:nvPr/>
        </p:nvSpPr>
        <p:spPr>
          <a:xfrm>
            <a:off x="22375583" y="12254947"/>
            <a:ext cx="9339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60063F-3D16-21A9-5B52-3C26FCFE52BA}"/>
              </a:ext>
            </a:extLst>
          </p:cNvPr>
          <p:cNvSpPr txBox="1"/>
          <p:nvPr/>
        </p:nvSpPr>
        <p:spPr>
          <a:xfrm>
            <a:off x="1079402" y="13826154"/>
            <a:ext cx="968266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Considered </a:t>
            </a:r>
            <a:r>
              <a:rPr lang="en-US" sz="2400" b="1" dirty="0">
                <a:solidFill>
                  <a:srgbClr val="002060"/>
                </a:solidFill>
              </a:rPr>
              <a:t>4,599</a:t>
            </a:r>
            <a:r>
              <a:rPr lang="en-US" sz="2400" dirty="0">
                <a:solidFill>
                  <a:srgbClr val="002060"/>
                </a:solidFill>
              </a:rPr>
              <a:t> urban census tracts and </a:t>
            </a:r>
            <a:r>
              <a:rPr lang="en-US" sz="2400" b="1" dirty="0">
                <a:solidFill>
                  <a:srgbClr val="002060"/>
                </a:solidFill>
              </a:rPr>
              <a:t>79 predictor variables</a:t>
            </a:r>
            <a:r>
              <a:rPr lang="en-US" sz="2400" dirty="0">
                <a:solidFill>
                  <a:srgbClr val="002060"/>
                </a:solidFill>
              </a:rPr>
              <a:t>, including…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2060"/>
                </a:solidFill>
              </a:rPr>
              <a:t>Demographics</a:t>
            </a:r>
            <a:r>
              <a:rPr lang="en-US" sz="2400" dirty="0">
                <a:solidFill>
                  <a:srgbClr val="002060"/>
                </a:solidFill>
              </a:rPr>
              <a:t> (race, ethnicity, age)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2060"/>
                </a:solidFill>
              </a:rPr>
              <a:t>Amenities</a:t>
            </a:r>
            <a:r>
              <a:rPr lang="en-US" sz="2400" dirty="0">
                <a:solidFill>
                  <a:srgbClr val="002060"/>
                </a:solidFill>
              </a:rPr>
              <a:t> (arts &amp; entertainment, restaurants &amp; bars, personal care services, retail, banks, etc.)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2060"/>
                </a:solidFill>
              </a:rPr>
              <a:t>Health Environment </a:t>
            </a:r>
            <a:r>
              <a:rPr lang="en-US" sz="2400" dirty="0">
                <a:solidFill>
                  <a:srgbClr val="002060"/>
                </a:solidFill>
              </a:rPr>
              <a:t>(land area cover, pollutants, healthcare resources, etc.)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2060"/>
                </a:solidFill>
              </a:rPr>
              <a:t>Social Environment </a:t>
            </a:r>
            <a:r>
              <a:rPr lang="en-US" sz="2400" dirty="0">
                <a:solidFill>
                  <a:srgbClr val="002060"/>
                </a:solidFill>
              </a:rPr>
              <a:t>(law enforcement)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2060"/>
                </a:solidFill>
              </a:rPr>
              <a:t>Households</a:t>
            </a:r>
            <a:r>
              <a:rPr lang="en-US" sz="2400" dirty="0">
                <a:solidFill>
                  <a:srgbClr val="002060"/>
                </a:solidFill>
              </a:rPr>
              <a:t> (family vs. nonfamily,  household size)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2060"/>
                </a:solidFill>
              </a:rPr>
              <a:t>Housing</a:t>
            </a:r>
            <a:r>
              <a:rPr lang="en-US" sz="2400" dirty="0">
                <a:solidFill>
                  <a:srgbClr val="002060"/>
                </a:solidFill>
              </a:rPr>
              <a:t> (housing units, year built, vacancy, house value, gross rent, etc.)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Transportation (means of commuting, avg. commute)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Improvement on Reades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Amenities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Rent in 2000 period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Mortgage/loan rates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7793AF-6D5F-FB5B-4AD1-5D98E84B38FF}"/>
              </a:ext>
            </a:extLst>
          </p:cNvPr>
          <p:cNvSpPr txBox="1"/>
          <p:nvPr/>
        </p:nvSpPr>
        <p:spPr>
          <a:xfrm>
            <a:off x="5920731" y="18548589"/>
            <a:ext cx="415937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New measure not yet in literature: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b="1" i="1" dirty="0">
                <a:solidFill>
                  <a:srgbClr val="002060"/>
                </a:solidFill>
              </a:rPr>
              <a:t>REDLINING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proportion of tract area that received a “D” HOLC rating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C1403-C005-8B8C-9B90-5AB30862681C}"/>
              </a:ext>
            </a:extLst>
          </p:cNvPr>
          <p:cNvSpPr txBox="1"/>
          <p:nvPr/>
        </p:nvSpPr>
        <p:spPr>
          <a:xfrm>
            <a:off x="22550590" y="4112979"/>
            <a:ext cx="91649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Training data: 90% of 2,284 gentrifiable tracts (2000-2003)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Testing data: 10% of 2,284 gentrifiable tracts(2000-2003)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Accuracy: </a:t>
            </a:r>
            <a:r>
              <a:rPr lang="en-US" sz="2400" dirty="0">
                <a:solidFill>
                  <a:srgbClr val="002060"/>
                </a:solidFill>
              </a:rPr>
              <a:t>~78%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False negative rate: </a:t>
            </a:r>
            <a:r>
              <a:rPr lang="en-US" sz="2400" dirty="0">
                <a:solidFill>
                  <a:srgbClr val="002060"/>
                </a:solidFill>
              </a:rPr>
              <a:t>~80%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missed many “gentrified” classifications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Indicates that there may be several factors still missing as predictor variables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6FE683-F36A-1E3C-0554-F595832F2DF4}"/>
              </a:ext>
            </a:extLst>
          </p:cNvPr>
          <p:cNvSpPr txBox="1"/>
          <p:nvPr/>
        </p:nvSpPr>
        <p:spPr>
          <a:xfrm>
            <a:off x="12181102" y="18708534"/>
            <a:ext cx="894806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002060"/>
                </a:solidFill>
              </a:rPr>
              <a:t>Most importance features: </a:t>
            </a:r>
            <a:r>
              <a:rPr lang="en-US" sz="2500" i="1" dirty="0">
                <a:solidFill>
                  <a:srgbClr val="002060"/>
                </a:solidFill>
              </a:rPr>
              <a:t>Neighborhood Disadvantage, Food Amenities and Structural Attractions, Work Accessibility, High SES Home Ownership</a:t>
            </a:r>
          </a:p>
          <a:p>
            <a:r>
              <a:rPr lang="en-US" sz="2600" b="1" dirty="0">
                <a:solidFill>
                  <a:srgbClr val="002060"/>
                </a:solidFill>
              </a:rPr>
              <a:t>Less important features: </a:t>
            </a:r>
            <a:r>
              <a:rPr lang="en-US" sz="2600" dirty="0">
                <a:solidFill>
                  <a:srgbClr val="002060"/>
                </a:solidFill>
              </a:rPr>
              <a:t>Personal care/entertainment amenities, social services, occupations</a:t>
            </a:r>
          </a:p>
          <a:p>
            <a:endParaRPr lang="en-US" sz="2500" i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9C3EDC-B2E8-2BA7-6CB4-CD26C8023E6E}"/>
              </a:ext>
            </a:extLst>
          </p:cNvPr>
          <p:cNvSpPr txBox="1"/>
          <p:nvPr/>
        </p:nvSpPr>
        <p:spPr>
          <a:xfrm>
            <a:off x="22073012" y="13981300"/>
            <a:ext cx="491153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i="0" u="none" strike="noStrike" dirty="0">
                <a:solidFill>
                  <a:srgbClr val="002060"/>
                </a:solidFill>
                <a:effectLst/>
              </a:rPr>
              <a:t>Important to </a:t>
            </a:r>
            <a:r>
              <a:rPr lang="en-US" sz="2400" b="1" i="0" u="none" strike="noStrike" dirty="0">
                <a:solidFill>
                  <a:srgbClr val="002060"/>
                </a:solidFill>
                <a:effectLst/>
              </a:rPr>
              <a:t>understand the process of gentrification </a:t>
            </a:r>
            <a:r>
              <a:rPr lang="en-US" sz="2400" i="0" u="none" strike="noStrike" dirty="0">
                <a:solidFill>
                  <a:srgbClr val="002060"/>
                </a:solidFill>
                <a:effectLst/>
              </a:rPr>
              <a:t>in order to better serve disadvantaged and vulnerable communities 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Predictors related to </a:t>
            </a:r>
            <a:r>
              <a:rPr lang="en-US" sz="2400" b="1" dirty="0">
                <a:solidFill>
                  <a:srgbClr val="002060"/>
                </a:solidFill>
              </a:rPr>
              <a:t>neighborhood disadvantage</a:t>
            </a:r>
            <a:r>
              <a:rPr lang="en-US" sz="2400" dirty="0">
                <a:solidFill>
                  <a:srgbClr val="002060"/>
                </a:solidFill>
              </a:rPr>
              <a:t> had highest importance, these communities are most at risk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Although the model had high accuracy, the high false negative rate means there are </a:t>
            </a:r>
            <a:r>
              <a:rPr lang="en-US" sz="2400" b="1" dirty="0">
                <a:solidFill>
                  <a:srgbClr val="002060"/>
                </a:solidFill>
              </a:rPr>
              <a:t>more underlying factors</a:t>
            </a:r>
            <a:r>
              <a:rPr lang="en-US" sz="2400" dirty="0">
                <a:solidFill>
                  <a:srgbClr val="002060"/>
                </a:solidFill>
              </a:rPr>
              <a:t> in the gentrification process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222ACB-145B-D6F8-F8AD-65D149A4AD1D}"/>
              </a:ext>
            </a:extLst>
          </p:cNvPr>
          <p:cNvSpPr txBox="1"/>
          <p:nvPr/>
        </p:nvSpPr>
        <p:spPr>
          <a:xfrm>
            <a:off x="11851457" y="4112979"/>
            <a:ext cx="958522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“Gentrifiable” tracts: tract-level median income less than the city-level median income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“Gentrified”:  changes in tract &gt;3</a:t>
            </a:r>
            <a:r>
              <a:rPr lang="en-US" sz="2400" baseline="30000" dirty="0">
                <a:solidFill>
                  <a:srgbClr val="002060"/>
                </a:solidFill>
              </a:rPr>
              <a:t>rd</a:t>
            </a:r>
            <a:r>
              <a:rPr lang="en-US" sz="2400" dirty="0">
                <a:solidFill>
                  <a:srgbClr val="002060"/>
                </a:solidFill>
              </a:rPr>
              <a:t> quartile of city-level changes between 10-year periods regarding: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		</a:t>
            </a:r>
            <a:r>
              <a:rPr lang="en-US" sz="2400" b="1" dirty="0">
                <a:solidFill>
                  <a:srgbClr val="002060"/>
                </a:solidFill>
              </a:rPr>
              <a:t>(1)</a:t>
            </a:r>
            <a:r>
              <a:rPr lang="en-US" sz="2400" dirty="0">
                <a:solidFill>
                  <a:srgbClr val="002060"/>
                </a:solidFill>
              </a:rPr>
              <a:t> household income, </a:t>
            </a:r>
            <a:r>
              <a:rPr lang="en-US" sz="2400" b="1" dirty="0">
                <a:solidFill>
                  <a:srgbClr val="002060"/>
                </a:solidFill>
              </a:rPr>
              <a:t>(2)</a:t>
            </a:r>
            <a:r>
              <a:rPr lang="en-US" sz="2400" dirty="0">
                <a:solidFill>
                  <a:srgbClr val="002060"/>
                </a:solidFill>
              </a:rPr>
              <a:t> residents with BA, </a:t>
            </a:r>
            <a:r>
              <a:rPr lang="en-US" sz="2400" b="1" dirty="0">
                <a:solidFill>
                  <a:srgbClr val="002060"/>
                </a:solidFill>
              </a:rPr>
              <a:t>(3)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		professional workers, </a:t>
            </a:r>
            <a:r>
              <a:rPr lang="en-US" sz="2400" b="1" dirty="0">
                <a:solidFill>
                  <a:srgbClr val="002060"/>
                </a:solidFill>
              </a:rPr>
              <a:t>(4)</a:t>
            </a:r>
            <a:r>
              <a:rPr lang="en-US" sz="2400" dirty="0">
                <a:solidFill>
                  <a:srgbClr val="002060"/>
                </a:solidFill>
              </a:rPr>
              <a:t> rent, </a:t>
            </a:r>
            <a:r>
              <a:rPr lang="en-US" sz="2400" b="1" dirty="0">
                <a:solidFill>
                  <a:srgbClr val="002060"/>
                </a:solidFill>
              </a:rPr>
              <a:t>(5)</a:t>
            </a:r>
            <a:r>
              <a:rPr lang="en-US" sz="2400" dirty="0">
                <a:solidFill>
                  <a:srgbClr val="002060"/>
                </a:solidFill>
              </a:rPr>
              <a:t> home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Create </a:t>
            </a:r>
            <a:r>
              <a:rPr lang="en-US" sz="2400" b="1" dirty="0">
                <a:solidFill>
                  <a:srgbClr val="002060"/>
                </a:solidFill>
              </a:rPr>
              <a:t>gentrification index</a:t>
            </a:r>
            <a:r>
              <a:rPr lang="en-US" sz="2400" dirty="0">
                <a:solidFill>
                  <a:srgbClr val="002060"/>
                </a:solidFill>
              </a:rPr>
              <a:t> of above vars using </a:t>
            </a:r>
            <a:r>
              <a:rPr lang="en-US" sz="2400" b="1" dirty="0">
                <a:solidFill>
                  <a:srgbClr val="002060"/>
                </a:solidFill>
              </a:rPr>
              <a:t>PCA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Principal component accounts for ~70% of variance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Random Forest</a:t>
            </a:r>
            <a:r>
              <a:rPr lang="en-US" sz="2400" dirty="0">
                <a:solidFill>
                  <a:srgbClr val="002060"/>
                </a:solidFill>
              </a:rPr>
              <a:t> — Feature Selection and Importance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Randomly subsets data, continues to chose which variables (1 by 1) best divide data until distinct classification is achieved</a:t>
            </a:r>
          </a:p>
          <a:p>
            <a:pPr lvl="1"/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i="1" dirty="0">
                <a:solidFill>
                  <a:srgbClr val="002060"/>
                </a:solidFill>
              </a:rPr>
              <a:t>Importance</a:t>
            </a:r>
            <a:r>
              <a:rPr lang="en-US" sz="2400" dirty="0">
                <a:solidFill>
                  <a:srgbClr val="002060"/>
                </a:solidFill>
              </a:rPr>
              <a:t>:  how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well node splits data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between classifications,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probability of a case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reaching that node</a:t>
            </a:r>
            <a:endParaRPr lang="en-US" dirty="0"/>
          </a:p>
        </p:txBody>
      </p:sp>
      <p:pic>
        <p:nvPicPr>
          <p:cNvPr id="76" name="Picture 75" descr="Diagram&#10;&#10;Description automatically generated">
            <a:extLst>
              <a:ext uri="{FF2B5EF4-FFF2-40B4-BE49-F238E27FC236}">
                <a16:creationId xmlns:a16="http://schemas.microsoft.com/office/drawing/2014/main" id="{BC64CADE-2204-E2D0-8ECD-5BDDFAD53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703" y="8571546"/>
            <a:ext cx="5080735" cy="27090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E5C332D-65B3-1F19-82FC-1C694647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8576" y="13731305"/>
            <a:ext cx="6281232" cy="479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98BFA23-838E-2687-DF91-659AFA327B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9" r="14952"/>
          <a:stretch/>
        </p:blipFill>
        <p:spPr bwMode="auto">
          <a:xfrm>
            <a:off x="22400437" y="6834280"/>
            <a:ext cx="4584108" cy="406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1E24BD3-BBD2-9B21-3A22-725098390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7" r="15780" b="2001"/>
          <a:stretch/>
        </p:blipFill>
        <p:spPr bwMode="auto">
          <a:xfrm>
            <a:off x="26984545" y="6834280"/>
            <a:ext cx="4580829" cy="406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D42ACC13-4032-9493-2514-866646036C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4" r="17804"/>
          <a:stretch/>
        </p:blipFill>
        <p:spPr bwMode="auto">
          <a:xfrm>
            <a:off x="26984545" y="14227205"/>
            <a:ext cx="4914900" cy="47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897C6A-CEE3-05FC-A58B-BA05E109289D}"/>
              </a:ext>
            </a:extLst>
          </p:cNvPr>
          <p:cNvSpPr txBox="1"/>
          <p:nvPr/>
        </p:nvSpPr>
        <p:spPr>
          <a:xfrm>
            <a:off x="22084440" y="19573214"/>
            <a:ext cx="9826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Still proves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power of predictive modeling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 understanding the causes and hopefully solutions to gentrification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87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{82A7B766-2A28-E846-B4A3-877144EFBAF0}tf10001067</Template>
  <TotalTime>7062</TotalTime>
  <Words>595</Words>
  <Application>Microsoft Macintosh PowerPoint</Application>
  <PresentationFormat>Custom</PresentationFormat>
  <Paragraphs>89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Garamond</vt:lpstr>
      <vt:lpstr>Savon</vt:lpstr>
      <vt:lpstr>Predicting U.S. Urban Gentrification with Machine Learning QSS Major One Quarter Project (23W), Claire Meli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U.S. Urban Gentrification with Machine Learning</dc:title>
  <dc:creator>Claire J. Meli</dc:creator>
  <cp:lastModifiedBy>Claire J. Meli</cp:lastModifiedBy>
  <cp:revision>28</cp:revision>
  <dcterms:created xsi:type="dcterms:W3CDTF">2023-02-23T17:34:22Z</dcterms:created>
  <dcterms:modified xsi:type="dcterms:W3CDTF">2023-03-17T02:31:54Z</dcterms:modified>
</cp:coreProperties>
</file>